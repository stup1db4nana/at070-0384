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6" r:id="rId2"/>
    <p:sldId id="257" r:id="rId3"/>
    <p:sldId id="261" r:id="rId4"/>
    <p:sldId id="265" r:id="rId5"/>
    <p:sldId id="266" r:id="rId6"/>
    <p:sldId id="267" r:id="rId7"/>
    <p:sldId id="268" r:id="rId8"/>
    <p:sldId id="269" r:id="rId9"/>
    <p:sldId id="263" r:id="rId10"/>
    <p:sldId id="262" r:id="rId11"/>
    <p:sldId id="259" r:id="rId12"/>
    <p:sldId id="26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57" autoAdjust="0"/>
    <p:restoredTop sz="94660"/>
  </p:normalViewPr>
  <p:slideViewPr>
    <p:cSldViewPr snapToGrid="0">
      <p:cViewPr varScale="1">
        <p:scale>
          <a:sx n="83" d="100"/>
          <a:sy n="83" d="100"/>
        </p:scale>
        <p:origin x="54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7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52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806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6/9/2026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56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6/9/2026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058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6/9/2026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94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3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6/9/2026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20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37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8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71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seoul.go.kr/dataList/10718/C/2/datasetView.do" TargetMode="External"/><Relationship Id="rId2" Type="http://schemas.openxmlformats.org/officeDocument/2006/relationships/hyperlink" Target="https://www.data.go.kr/data/15135815/fileData.d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.seoul.go.kr/dataList/10944/S/2/datasetView.do" TargetMode="External"/><Relationship Id="rId5" Type="http://schemas.openxmlformats.org/officeDocument/2006/relationships/hyperlink" Target="https://www.data.go.kr/data/15147231/fileData.do" TargetMode="External"/><Relationship Id="rId4" Type="http://schemas.openxmlformats.org/officeDocument/2006/relationships/hyperlink" Target="https://data.seoul.go.kr/dataList/104/S/2/datasetView.d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10335475" cy="2696866"/>
          </a:xfrm>
        </p:spPr>
        <p:txBody>
          <a:bodyPr/>
          <a:lstStyle/>
          <a:p>
            <a:r>
              <a:rPr lang="ko-KR" altLang="en-US">
                <a:ea typeface="맑은 고딕"/>
              </a:rPr>
              <a:t>어떤 카페를 창업할까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>
                <a:ea typeface="맑은 고딕"/>
              </a:rPr>
              <a:t>장사잘하삼조 </a:t>
            </a:r>
          </a:p>
          <a:p>
            <a:r>
              <a:rPr lang="ko-KR" altLang="en-US">
                <a:ea typeface="맑은 고딕"/>
              </a:rPr>
              <a:t>조원 : 정휘철, 윤상진, 김동한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38324C-6AD0-EBA8-0C63-50878ED10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위 주제를 선정한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8E9E65-C1FA-6CE7-9E0B-144243F13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827" y="2293126"/>
            <a:ext cx="10776609" cy="3636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>
                <a:ea typeface="+mn-lt"/>
                <a:cs typeface="+mn-lt"/>
              </a:rPr>
              <a:t>한국에서 카페라는 형태의 업종은 다방에서 시작하였으며 깊은 역사를 가지고 있다.</a:t>
            </a:r>
          </a:p>
          <a:p>
            <a:r>
              <a:rPr lang="ko-KR" altLang="en-US">
                <a:ea typeface="+mn-lt"/>
                <a:cs typeface="+mn-lt"/>
              </a:rPr>
              <a:t>구한말 커피가 보급되며 차와 커피, 각종 디저트를 판매하는 등 다방은 한국형 카페로 진화하였다.</a:t>
            </a:r>
          </a:p>
          <a:p>
            <a:r>
              <a:rPr lang="ko-KR" altLang="en-US">
                <a:ea typeface="+mn-lt"/>
                <a:cs typeface="+mn-lt"/>
              </a:rPr>
              <a:t>이후 2000년대 스타벅스 등의 해외 프렌차이즈의 유입으로 한국의 카페업은 계속 성장하고 있다. 이처럼 일상에서 쉽게 접할 수 있기 때문에 주제로 선정하였다.</a:t>
            </a:r>
          </a:p>
          <a:p>
            <a:endParaRPr lang="en-US" altLang="ko-KR">
              <a:ea typeface="+mn-lt"/>
              <a:cs typeface="+mn-lt"/>
            </a:endParaRPr>
          </a:p>
          <a:p>
            <a:pPr marL="0" indent="0">
              <a:buNone/>
            </a:pPr>
            <a:endParaRPr lang="ko-KR" altLang="en-US">
              <a:ea typeface="+mn-lt"/>
              <a:cs typeface="+mn-lt"/>
            </a:endParaRPr>
          </a:p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805AAF-181B-0605-CA70-4918A52E4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034FC-51C5-4FD1-91A1-71377AC7248B}" type="datetime1">
              <a:t>2026-06-09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AAAAD4-58AC-823D-EF44-6297C17F4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8445C0-5155-227D-FED8-8233487BA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78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369D2-F956-40C0-759D-35D9B34EA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조사 범위​와 목표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16842C-1D1B-41DE-4438-A1BACBE96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조사범위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F3376-6E5D-9613-B9C1-4FC3B9FFF2A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err="1"/>
              <a:t>조사지역은</a:t>
            </a:r>
            <a:r>
              <a:rPr lang="en-US" altLang="ko-KR"/>
              <a:t> </a:t>
            </a:r>
            <a:r>
              <a:rPr lang="en-US" err="1"/>
              <a:t>보다</a:t>
            </a:r>
            <a:r>
              <a:rPr lang="en-US"/>
              <a:t> </a:t>
            </a:r>
            <a:r>
              <a:rPr lang="en-US" err="1"/>
              <a:t>상세한</a:t>
            </a:r>
            <a:r>
              <a:rPr lang="en-US"/>
              <a:t> </a:t>
            </a:r>
            <a:r>
              <a:rPr lang="en-US" err="1"/>
              <a:t>조사를</a:t>
            </a:r>
            <a:r>
              <a:rPr lang="en-US"/>
              <a:t> </a:t>
            </a:r>
            <a:r>
              <a:rPr lang="en-US" err="1"/>
              <a:t>위하여</a:t>
            </a:r>
            <a:r>
              <a:rPr lang="en-US"/>
              <a:t> </a:t>
            </a:r>
            <a:r>
              <a:rPr lang="en-US" altLang="ko-KR" err="1"/>
              <a:t>서울특별시로</a:t>
            </a:r>
            <a:r>
              <a:rPr lang="en-US" altLang="ko-KR"/>
              <a:t> </a:t>
            </a:r>
            <a:r>
              <a:rPr lang="en-US" altLang="ko-KR" err="1"/>
              <a:t>설정하였다</a:t>
            </a:r>
            <a:r>
              <a:rPr lang="en-US" altLang="ko-KR"/>
              <a:t>.</a:t>
            </a:r>
          </a:p>
          <a:p>
            <a:r>
              <a:rPr lang="en-US" altLang="ko-KR" err="1"/>
              <a:t>조사연도는</a:t>
            </a:r>
            <a:r>
              <a:rPr lang="en-US" altLang="ko-KR"/>
              <a:t> </a:t>
            </a:r>
            <a:r>
              <a:rPr lang="en-US" err="1"/>
              <a:t>자료의</a:t>
            </a:r>
            <a:r>
              <a:rPr lang="en-US"/>
              <a:t> </a:t>
            </a:r>
            <a:r>
              <a:rPr lang="en-US" err="1"/>
              <a:t>접근성을</a:t>
            </a:r>
            <a:r>
              <a:rPr lang="en-US"/>
              <a:t> </a:t>
            </a:r>
            <a:r>
              <a:rPr lang="en-US" err="1"/>
              <a:t>고려해</a:t>
            </a:r>
            <a:r>
              <a:rPr lang="en-US"/>
              <a:t> </a:t>
            </a:r>
            <a:r>
              <a:rPr lang="en-US" altLang="ko-KR"/>
              <a:t>2015년부터 2026년까지로 </a:t>
            </a:r>
            <a:r>
              <a:rPr lang="en-US" altLang="ko-KR" err="1"/>
              <a:t>설정하였다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D2457FF-D0D2-D19A-F49E-B7F1CE1175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/>
              <a:t>조사목표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321662-9F77-B027-81ED-02AC5C8D850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지역, 영업구분, 환경적 요인 등 다양한 조건이 카페의 영업기간에 어떠한 영향을 미치는지 조사한다.</a:t>
            </a:r>
          </a:p>
          <a:p>
            <a:r>
              <a:rPr lang="ko-KR" altLang="en-US"/>
              <a:t>위 조사 결과를 토대로 어떠한 방식으로 카페를 창업, 운영해야 장기적으로 영업할 수 있는지 알아낸다.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04A95-D8D3-3C2B-6888-503D1256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C5881-5CBA-4F50-82C7-286E988795D8}" type="datetime1">
              <a:rPr lang="ko-KR" altLang="en-US"/>
              <a:t>2026-06-09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C22DB-F796-D0B7-6698-7A41DAD95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47592-712D-0099-9698-B53588994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50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68B3AC5-2D2B-3A68-B978-ADFE98160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A1CF2-8344-449D-A44D-4BD6A2AC149D}" type="datetime1">
              <a:rPr lang="en-US" altLang="ko-KR" smtClean="0"/>
              <a:t>6/9/2026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BD229A-D075-AEE6-D999-5CC779F6C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62B379-2099-A514-584B-340A566D5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4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BB535F-5741-AD52-A139-B8C736EE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7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25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DA825A-58C5-7C64-F4F4-0441FC54B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D3B0C-0B9D-41C0-B54B-0A6E1199F081}" type="datetime1">
              <a:rPr lang="en-US" altLang="ko-KR" smtClean="0"/>
              <a:t>6/9/2026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B0AE88-F1F0-60ED-8802-EF0C2E5D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6F20CF-4545-70BB-B83A-A4D1306F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5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CFC229-4944-2768-1A86-8C0AFF7E2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7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42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5F380-E8A3-3518-B230-1ACB15758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15143A-EFFB-F2F7-BFED-5C030A06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D3B0C-0B9D-41C0-B54B-0A6E1199F081}" type="datetime1">
              <a:rPr lang="en-US" altLang="ko-KR" smtClean="0"/>
              <a:t>6/9/2026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58ED28-0D2B-BFA6-C261-412A15DBA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CF54DD-12B7-424D-1B3D-697C41E91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6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FC5E990-ACED-36B7-DCA8-DDC441D40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07" y="0"/>
            <a:ext cx="11021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411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D9AC8-EB6E-ACB8-AAEA-108C9AF9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8CBFD6-3DED-9A23-5001-E130F5104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D3B0C-0B9D-41C0-B54B-0A6E1199F081}" type="datetime1">
              <a:rPr lang="en-US" altLang="ko-KR" smtClean="0"/>
              <a:t>6/9/2026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18B6E4B-8A30-B182-943A-B6D8F37FD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187109-11AF-6555-B9AD-B9A0BDC53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7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27DA06-AEF9-2FD9-BAFD-818030618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7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68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7A5C5-D5F8-97D1-E3FA-3E539DCB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DDBB1D-CE8D-6B94-E477-ABE86789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D3B0C-0B9D-41C0-B54B-0A6E1199F081}" type="datetime1">
              <a:rPr lang="en-US" altLang="ko-KR" smtClean="0"/>
              <a:t>6/9/2026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835510D-662D-1708-EC45-EBD39053D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20DA22-76F8-1882-3808-A6593478D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8</a:t>
            </a:fld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AFB0C3F-E778-707B-B1EE-41DB96B7F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7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919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F06BE-36B4-BFA3-2B9A-2824701D1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2D22B-0CF1-0535-826D-F645B6669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조사 결과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7FE66-A981-1F86-F786-21FCFEA79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9019" y="2224301"/>
            <a:ext cx="11098495" cy="39653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카페의 유지비용과 소재지면적은 직접적인 연관이 있으며 유지비가 적으면 장기적으로 영업에 유리하다.</a:t>
            </a:r>
          </a:p>
          <a:p>
            <a:r>
              <a:rPr lang="ko-KR" altLang="en-US"/>
              <a:t>개인운영 점포는 비슷한 영업기간을 가진 프렌차이즈 점포에 비교해 낮은 임대료를 지출하고 있다.</a:t>
            </a:r>
          </a:p>
          <a:p>
            <a:r>
              <a:rPr lang="ko-KR" altLang="en-US"/>
              <a:t>중구와 종로구에 위치한 카페는 임대료가 높고 영업기간 또한 길다.</a:t>
            </a:r>
          </a:p>
          <a:p>
            <a:r>
              <a:rPr lang="ko-KR"/>
              <a:t>개인운영 점포는 프렌차이즈 점포에 비교해 중구와 종로구에서 더 오래 운영하고 있다.</a:t>
            </a:r>
            <a:endParaRPr lang="ko-KR" altLang="en-US"/>
          </a:p>
          <a:p>
            <a:r>
              <a:rPr lang="ko-KR" altLang="en-US"/>
              <a:t>이는 중구와 종로구가 서울의 문화관광 중심지이기 때문이다.</a:t>
            </a:r>
          </a:p>
          <a:p>
            <a:endParaRPr lang="ko-KR" altLang="en-US"/>
          </a:p>
          <a:p>
            <a:endParaRPr lang="ko-KR" altLang="en-US"/>
          </a:p>
          <a:p>
            <a:endParaRPr lang="ko-KR" altLang="en-US"/>
          </a:p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A9B798-EF72-7131-9357-800201CA2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AE81-22F6-450D-B20A-61F3E77C7DF9}" type="datetime1">
              <a:t>2026-06-09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B68E75-80E3-C0AD-A9D3-585CD0F12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5323DE-07E7-5668-2F79-031E40EE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11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CC186-2B85-9A69-7225-B1128899C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개인운영 카페(감성카페)와 프렌차이즈 점포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289A6-F281-2C85-4FA7-7A15BBE71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이용객의 차이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3D18FA-264F-729E-11F3-F22A4B12C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2992348"/>
            <a:ext cx="10318305" cy="31973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감성카페: 문화를 즐기기 위해 시간적 여유가 많은 사람들이 이용함.</a:t>
            </a:r>
          </a:p>
          <a:p>
            <a:r>
              <a:rPr lang="ko-KR" altLang="en-US"/>
              <a:t>프렌차이즈: 시간이 없는 바쁜 현대인들이 많이 이용함.</a:t>
            </a:r>
          </a:p>
          <a:p>
            <a:endParaRPr lang="ko-KR" altLang="en-US"/>
          </a:p>
          <a:p>
            <a:r>
              <a:rPr lang="ko-KR" altLang="en-US"/>
              <a:t>이러한 차이가 문화관광지가 많은 중구와 종로구에 위치한 감성 카페가 오랫동안 영업을 유지할 수 있는 이유이다.</a:t>
            </a:r>
          </a:p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330CD2-DC69-6B51-302A-B8FE5D0BD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1AE81-22F6-450D-B20A-61F3E77C7DF9}" type="datetime1">
              <a:t>2026-06-09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DD7021-41E9-A552-B75A-383DC05BF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892542-E2B8-4F74-7D37-D384006D2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74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B96745-EE45-147A-A234-11328885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j-lt"/>
                <a:cs typeface="+mj-lt"/>
              </a:rPr>
              <a:t>자료를 통해 발견한 결론</a:t>
            </a:r>
            <a:endParaRPr 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5C2C33-5A50-46B0-7A59-4E8CFAC4F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2400"/>
              <a:t>종로와 중구에서 창업할 경우 소규모 면적의 감성 카페가 유리하다.</a:t>
            </a:r>
            <a:endParaRPr lang="ko-KR" altLang="en-US" sz="1800"/>
          </a:p>
          <a:p>
            <a:r>
              <a:rPr lang="ko-KR" altLang="en-US" sz="2400"/>
              <a:t>타 지역에서는 프렌차이즈 점포가 유리하다.</a:t>
            </a:r>
          </a:p>
          <a:p>
            <a:endParaRPr lang="ko-KR" altLang="en-US"/>
          </a:p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F52C36-07C2-B016-82FD-AF22DC863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7FAB2-F841-4F91-A078-EB9924703404}" type="datetime1">
              <a:t>2026-06-09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85FCD2-928C-FD98-8702-0BEADB5D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30755D-1D5C-1991-E3CE-B2B70EF6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99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FD48A-E68A-2EC9-F3EC-1D9CCC343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데이터 출처</a:t>
            </a:r>
            <a:endParaRPr 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0F30D3-28BB-EBF6-28FB-4EC057403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1900">
                <a:ea typeface="+mn-lt"/>
                <a:cs typeface="+mn-lt"/>
              </a:rPr>
              <a:t>서울시 휴게음식점 인허가 정보 - </a:t>
            </a:r>
            <a:r>
              <a:rPr lang="ko-KR" sz="1900">
                <a:ea typeface="+mn-lt"/>
                <a:cs typeface="+mn-lt"/>
                <a:hlinkClick r:id="rId2"/>
              </a:rPr>
              <a:t>https://www.data.go.kr/data/15135815/fileData.do</a:t>
            </a:r>
            <a:r>
              <a:rPr lang="ko-KR" sz="1900">
                <a:ea typeface="+mn-lt"/>
                <a:cs typeface="+mn-lt"/>
              </a:rPr>
              <a:t>#</a:t>
            </a:r>
            <a:endParaRPr lang="en-US" altLang="ko-KR"/>
          </a:p>
          <a:p>
            <a:r>
              <a:rPr lang="ko-KR" sz="1900">
                <a:ea typeface="+mn-lt"/>
                <a:cs typeface="+mn-lt"/>
              </a:rPr>
              <a:t>연령별 등록인구</a:t>
            </a:r>
            <a:r>
              <a:rPr lang="ko-KR" altLang="en-US" sz="1900">
                <a:ea typeface="+mn-lt"/>
                <a:cs typeface="+mn-lt"/>
              </a:rPr>
              <a:t> </a:t>
            </a:r>
            <a:r>
              <a:rPr lang="en-US" altLang="en-US" sz="1900">
                <a:ea typeface="+mn-lt"/>
                <a:cs typeface="+mn-lt"/>
              </a:rPr>
              <a:t>-</a:t>
            </a:r>
            <a:r>
              <a:rPr lang="ko-KR" altLang="en-US" sz="1900">
                <a:ea typeface="+mn-lt"/>
                <a:cs typeface="+mn-lt"/>
              </a:rPr>
              <a:t> </a:t>
            </a:r>
            <a:r>
              <a:rPr lang="ko-KR" sz="1900">
                <a:ea typeface="+mn-lt"/>
                <a:cs typeface="+mn-lt"/>
                <a:hlinkClick r:id="rId3"/>
              </a:rPr>
              <a:t>https://data.seoul.go.kr/dataList/10718/C/2/datasetView.do</a:t>
            </a:r>
          </a:p>
          <a:p>
            <a:r>
              <a:rPr lang="ko-KR" altLang="en-US" sz="1900">
                <a:ea typeface="+mn-lt"/>
                <a:cs typeface="+mn-lt"/>
              </a:rPr>
              <a:t>서울시 사업체현황 - </a:t>
            </a:r>
            <a:r>
              <a:rPr lang="ko-KR" sz="1900">
                <a:ea typeface="+mn-lt"/>
                <a:cs typeface="+mn-lt"/>
                <a:hlinkClick r:id="rId4"/>
              </a:rPr>
              <a:t>https://data.seoul.go.kr/dataList/104/S/2/datasetView.do</a:t>
            </a:r>
          </a:p>
          <a:p>
            <a:r>
              <a:rPr lang="ko-KR" altLang="en-US" sz="1900">
                <a:ea typeface="+mn-lt"/>
                <a:cs typeface="+mn-lt"/>
              </a:rPr>
              <a:t>서울시 상권분석서비스 - </a:t>
            </a:r>
            <a:r>
              <a:rPr lang="en-US" altLang="ko-KR" sz="1900">
                <a:ea typeface="+mn-lt"/>
                <a:cs typeface="+mn-lt"/>
                <a:hlinkClick r:id="rId5"/>
              </a:rPr>
              <a:t>https://www.data.go.kr/data/15147231/fileData.do</a:t>
            </a:r>
            <a:endParaRPr lang="ko-KR" sz="1900">
              <a:ea typeface="+mn-lt"/>
              <a:cs typeface="+mn-lt"/>
            </a:endParaRPr>
          </a:p>
          <a:p>
            <a:r>
              <a:rPr lang="ko-KR" altLang="en-US" sz="1900">
                <a:ea typeface="+mn-lt"/>
                <a:cs typeface="+mn-lt"/>
              </a:rPr>
              <a:t>여행중 </a:t>
            </a:r>
            <a:r>
              <a:rPr lang="ko-KR" sz="1900">
                <a:ea typeface="+mn-lt"/>
                <a:cs typeface="+mn-lt"/>
              </a:rPr>
              <a:t>서울지역</a:t>
            </a:r>
            <a:r>
              <a:rPr lang="ko-KR" altLang="en-US" sz="1900">
                <a:ea typeface="+mn-lt"/>
                <a:cs typeface="+mn-lt"/>
              </a:rPr>
              <a:t> </a:t>
            </a:r>
            <a:r>
              <a:rPr lang="ko-KR" sz="1900">
                <a:ea typeface="+mn-lt"/>
                <a:cs typeface="+mn-lt"/>
              </a:rPr>
              <a:t>방문지 -</a:t>
            </a:r>
            <a:r>
              <a:rPr lang="ko-KR" altLang="en-US" sz="1900">
                <a:ea typeface="+mn-lt"/>
                <a:cs typeface="+mn-lt"/>
              </a:rPr>
              <a:t> </a:t>
            </a:r>
            <a:r>
              <a:rPr lang="en-US" altLang="ko-KR" sz="1900">
                <a:ea typeface="+mn-lt"/>
                <a:cs typeface="+mn-lt"/>
                <a:hlinkClick r:id="rId6"/>
              </a:rPr>
              <a:t>https://data.seoul.go.kr/dataList/10944/S/2/datasetView.do</a:t>
            </a:r>
            <a:endParaRPr lang="ko-KR" sz="1900"/>
          </a:p>
          <a:p>
            <a:endParaRPr lang="ko-KR" alt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altLang="ko-KR">
              <a:ea typeface="+mn-lt"/>
              <a:cs typeface="+mn-lt"/>
            </a:endParaRPr>
          </a:p>
          <a:p>
            <a:endParaRPr lang="en-US" altLang="ko-KR" sz="2100"/>
          </a:p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79B00F-C98C-10C5-7C28-A5E3753D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4FC3E-BE9B-4C13-947B-B3F4BDA28C97}" type="datetime1">
              <a:t>2026-06-09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01BAB4-7B55-BBF8-5CD0-01B05B0CF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8443F0-68DA-C546-178E-C78EC0429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1520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407</Words>
  <Application>Microsoft Office PowerPoint</Application>
  <PresentationFormat>와이드스크린</PresentationFormat>
  <Paragraphs>74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Grandview Display</vt:lpstr>
      <vt:lpstr>DashVTI</vt:lpstr>
      <vt:lpstr>어떤 카페를 창업할까</vt:lpstr>
      <vt:lpstr>위 주제를 선정한 이유</vt:lpstr>
      <vt:lpstr>조사 범위​와 목표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조사 결과</vt:lpstr>
      <vt:lpstr>개인운영 카페(감성카페)와 프렌차이즈 점포</vt:lpstr>
      <vt:lpstr>자료를 통해 발견한 결론</vt:lpstr>
      <vt:lpstr>데이터 출처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kdh</dc:creator>
  <cp:lastModifiedBy>동한 김</cp:lastModifiedBy>
  <cp:revision>35</cp:revision>
  <dcterms:created xsi:type="dcterms:W3CDTF">2026-06-07T04:04:40Z</dcterms:created>
  <dcterms:modified xsi:type="dcterms:W3CDTF">2026-06-09T01:56:28Z</dcterms:modified>
</cp:coreProperties>
</file>